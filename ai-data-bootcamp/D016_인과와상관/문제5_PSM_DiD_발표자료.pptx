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값(점)</c:v>
                </c:pt>
              </c:strCache>
            </c:strRef>
          </c:tx>
          <c:spPr>
            <a:solidFill>
              <a:srgbClr val="1E2761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C7B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단순 평균 비교</c:v>
                  </c:pt>
                  <c:pt idx="1">
                    <c:v>PSM 이후 ATT</c:v>
                  </c:pt>
                  <c:pt idx="2">
                    <c:v>참 효과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11.34</c:v>
                </c:pt>
                <c:pt idx="1">
                  <c:v>5.02</c:v>
                </c:pt>
                <c:pt idx="2">
                  <c:v>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서울(실험군)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14.69</c:v>
                </c:pt>
                <c:pt idx="1">
                  <c:v>16.27</c:v>
                </c:pt>
                <c:pt idx="2">
                  <c:v>17.71</c:v>
                </c:pt>
                <c:pt idx="3">
                  <c:v>19.22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부산(통제군)</c:v>
                </c:pt>
              </c:strCache>
            </c:strRef>
          </c:tx>
          <c:spPr>
            <a:solidFill>
              <a:srgbClr val="E8A33D"/>
            </a:solidFill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10.16</c:v>
                </c:pt>
                <c:pt idx="1">
                  <c:v>11.54</c:v>
                </c:pt>
                <c:pt idx="2">
                  <c:v>13.08</c:v>
                </c:pt>
                <c:pt idx="3">
                  <c:v>14.6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8"/>
                    </a:solidFill>
                    <a:latin typeface="Arial"/>
                  </a:rPr>
                  <a:t>GB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377440" cy="237744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303520"/>
            <a:ext cx="2743200" cy="27432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5 · 미니 프로젝트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실험할 수 없을 때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 </a:t>
            </a:r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 인과효과 추정하기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데이터만 놓고, 실험 없이 인과효과에 다가가는 두 가지 전략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경향점수매칭(PSM)  ·  이중차분법(DiD)  ·  가정 검증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문제가 필요한가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4에서 확인한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배정(RCT)만 되면,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인과효과는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평균 차이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구해집니다.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치우침 없이 두 집단이 애초에 비슷해지기 때문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7830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783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그런데 현실은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대부분의 현실에서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무작위 배정이 불가능합니다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38404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윤리적 문제 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해로울 수 있는 처치를 무작위로 배정할 수 없음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현실적 문제 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큰 표본, 많은 비용과 시간이 필요함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그래서 관찰 데이터만 놓고 인과효과에 다가가는 방법이 필요합니다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다룰 두 가지 방법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경향점수매칭 (PSM)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처치를 받을 '경향'이 비슷한 사람끼리 짝지어 '통계적 쌍둥이' 집단을 만든다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60120" y="4160520"/>
            <a:ext cx="4709160" cy="0"/>
          </a:xfrm>
          <a:prstGeom prst="line">
            <a:avLst/>
          </a:prstGeom>
          <a:noFill/>
          <a:ln w="12700">
            <a:solidFill>
              <a:srgbClr val="445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데이터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시점의 단면 데이터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2C3A8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이중차분법 (DiD)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시간축을 도입해, 통제군의 변화를 '개입이 없었다면 일어났을 변화'로 삼고 실험군의 변화에서 빼낸다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0" y="4160520"/>
            <a:ext cx="4709160" cy="0"/>
          </a:xfrm>
          <a:prstGeom prst="line">
            <a:avLst/>
          </a:prstGeom>
          <a:noFill/>
          <a:ln w="12700">
            <a:solidFill>
              <a:srgbClr val="4450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데이터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시점의 패널 데이터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789920" cy="594360"/>
          </a:xfrm>
          <a:prstGeom prst="roundRect">
            <a:avLst>
              <a:gd name="adj" fmla="val 15385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989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방법 모두 가정 위에 서 있습니다 — 진짜 목표는 그 가정을 검증하는 절차까지 해보는 것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경향점수매칭 (PSM)이란?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경향점수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대상이 '처치를 받을 확률'을 로지스틱 회귀 등으로 추정한 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짝짓기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40480" y="251460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경향점수가 가장 비슷한 처치군-대조군을 1:1로 짝지어 '통계적 쌍둥이'를 만듦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83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0" y="338328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짝지어진 두 집단의 결과 평균 차이 — 처치집단에 대한 평균 처치효과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7899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비유하자면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무작위로 짝을 지을 수 없다면, 최소한 '조건이 비슷한' 사람끼리라도 비교하자 — 나이·성별·소득이 비슷한 두 사람을 골라 비교하는 것과 같은 원리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상황 : 온라인 강의 효과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학생 2,000명 · 강의는 '성적 좋고 열심인 학생'이 스스로 신청 → 선택 편향 발생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751 / 1,249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 / 비수강생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92024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194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+11.34점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3484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평균 비교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1920240"/>
            <a:ext cx="3429000" cy="260604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1945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+5.0점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4672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되찾아야 하는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 효과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789920" cy="1234440"/>
          </a:xfrm>
          <a:prstGeom prst="roundRect">
            <a:avLst>
              <a:gd name="adj" fmla="val 8889"/>
            </a:avLst>
          </a:prstGeom>
          <a:solidFill>
            <a:srgbClr val="FCEFE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9204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+11.34점은 참 효과(5.0점)보다 두 배 넘게 부풀려진 값입니다.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 쪽의 사전점수·학습시간이 비수강생보다 눈에 띄게 높기 때문입니다.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PSM의 3단계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경향점수 추정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로지스틱 회귀로 각 학생이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강의를 신청할 확률을 추정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44805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480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pre_score, study_hours → course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50208" y="301752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06240" y="169164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34840" y="2880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 짝짓기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3429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수강생마다 경향점수가 가장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가까운 비수강생 1명을 매칭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26280" y="44805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480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 매칭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16368" y="301752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0" y="169164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9659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01000" y="2880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균형 검증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001000" y="3429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짝짓기 전/후 교란요인 차이를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비교해 매칭 품질을 확인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2440" y="44805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2C3A8F"/>
          </a:solidFill>
          <a:ln w="12700">
            <a:solidFill>
              <a:srgbClr val="4450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480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공변량 균형(Covariate Balance)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 결과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추정값 비교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공변량 균형 검증 (짝짓기 전 → 후)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91640"/>
          <a:ext cx="5120640" cy="146304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짝짓기 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짝짓기 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pre_score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342900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8" name="Text 4"/>
          <p:cNvSpPr/>
          <p:nvPr/>
        </p:nvSpPr>
        <p:spPr>
          <a:xfrm>
            <a:off x="6492240" y="3429000"/>
            <a:ext cx="4709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짝짓기 후 차이가 0에 가깝게 줄었습니다 → 매칭 성공.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비교(+11.34점)에 섞여 있던 선택 편향이 PSM을 거치며 걷어지고, ATT(+5.02점)가 참 효과(+5.0점)에 거의 정확히 도달했습니다.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PSM의 한계 — RCT와 비교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789920" cy="1005840"/>
          </a:xfrm>
          <a:prstGeom prst="roundRect">
            <a:avLst>
              <a:gd name="adj" fmla="val 10909"/>
            </a:avLst>
          </a:prstGeom>
          <a:solidFill>
            <a:srgbClr val="2C3A8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PSM은 경향점수 </a:t>
            </a:r>
            <a:pPr algn="ctr"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모형에 넣은 변수만</a:t>
            </a:r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균형을 맞춥니다.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RCT (문제 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배정 덕분에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관측했든 안 했든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교란요인이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저절로 균형을 이룸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265176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8803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 (문제 5)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5080" y="35204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측정해 모형에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넣은 변수만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균형을 맞춰줌 —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못한 교란요인은 통제 불가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학생의 타고난 이해력처럼 우리가 모르는 교란요인이 있다면, Q2의 ATT는 엄밀한 인과효과가 아니라 '측정한 교란요인만 통제했을 때의 추정치'로 제한적으로 해석해야 합니다.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이중차분법 (DiD)이란?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Difference-in-Differences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정책이 없었다면 두 집단의 격차는 시간이 지나도 </a:t>
            </a:r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일정하게 유지</a:t>
            </a:r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되었을 것이다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평행추세 가정 (Parallel Trends Assumption)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계산 방법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77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= (A₂ − A₁) − (B₂ − B₁)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실험군의 변화(시간추세+정책효과)      B = 통제군의 변화(시간추세만)  →  빼면 정책효과만 남음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상황: 무료 공공 와이파이 정책이 2024년 서울(실험군)에만 시행 · 부산(실험군)은 통제군 · 참 효과 +4.0GB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계산 전에 먼저: 평행추세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시행 이전(2020~2023) 구간만 잘라서, 두 도시의 데이터 사용량 추세를 확인합니다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격차 (서울 − 부산)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2011680"/>
          <a:ext cx="3931920" cy="192024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격차(GB)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52360" y="4160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8" name="Text 4"/>
          <p:cNvSpPr/>
          <p:nvPr/>
        </p:nvSpPr>
        <p:spPr>
          <a:xfrm>
            <a:off x="7680960" y="4160520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4.5~4.7GB 사이에서 거의 일정 → 평행추세 가정을 믿을 만합니다.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5943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정책 이전부터 격차가 벌어지고 있었다면, 이후 계산할 DiD 계수는 정책 효과가 아니라 '원래 있던 추세'가 섞인 값입니다.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2×2 DiD 회귀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직전 해(2023)와 직후 해(2024)만 사용해 세 항이 들어간 회귀를 적합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78992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data_usage ~ is_seoul + is_post + is_seoul:is_post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789920" cy="22860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계수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is_seoul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정책과 무관한, 서울·부산 사이의 원래 격차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is_post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두 도시 모두에 공통으로 작용한 시간에 따른 변화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is_seoul:is_post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서울에서 2024년 이후에만 나타난 변화 = 정책의 순수 효과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0292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1206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+4.01 GB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383280" y="51206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추정치 (상호작용항 계수)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50292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4F6FC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51206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+4.0 GB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823960" y="51206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 효과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스스로 검증하기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상호작용항이 왜 정책효과인가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평균값을 직접 계산해 회귀 계수와 일치하는지 확인: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(A₂-A₁) - (B₂-B₁) = 4.01 GB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변화량(시간추세+정책효과)에서 부산 변화량(시간추세만)을 빼면, 공통 시간추세는 상쇄되고 정책 효과만 남습니다.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회귀 계수(+4.01)와 정확히 일치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플라시보 검정으로 스스로 반증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정책이 없었던 구간(2022 vs 2023, 둘 다 정책 이전)에 똑같은 DiD를 적용 → 효과가 0으로 나와야 정상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246120"/>
          <a:ext cx="4937760" cy="100584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상호작용항 계수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0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309360" y="44348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1E7A46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44348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유의하지 않음 → 검정 통과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09360" y="5349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4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유의하게 나왔다면? 평행추세 가정이 깨졌거나, 정책과 무관한 다른 요인(다른 정책·경제 상황 변화)을 의심해야 합니다.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 vs DiD — 언제 무엇을 쓰는가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2788920"/>
        </p:xfrm>
        <a:graphic>
          <a:graphicData uri="http://schemas.openxmlformats.org/drawingml/2006/table">
            <a:tbl>
              <a:tblPr/>
              <a:tblGrid>
                <a:gridCol w="2834640"/>
                <a:gridCol w="402336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형태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시점의 단면 데이터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시점의 패널 데이터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통제하는 교란요인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관측해서 모형에 넣은 것만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변하지 않는 특성이면 관측 못한 것도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적합한 상황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배정 교란요인을 이미 측정해둔 경우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시점에 일부만 개입(정책 등)받는 경우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검증 절차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공변량 균형(Covariate Balance)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평행추세 확인 + 플라시보 검정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343400"/>
            <a:ext cx="10881360" cy="1691640"/>
          </a:xfrm>
          <a:prstGeom prst="roundRect">
            <a:avLst>
              <a:gd name="adj" fmla="val 7568"/>
            </a:avLst>
          </a:prstGeom>
          <a:solidFill>
            <a:srgbClr val="2C3A8F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정리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48920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실험할 수 없을 때도, '가정을 명시하고 → 그 가정을 스스로 검증하는' 절차를 거치면 관찰 데이터만으로도 인과효과에 다가갈 수 있다.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그 추정치는 항상 '어떤 가정 위에서 얻어진 값인지'와 함께 보고되어야 한다.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2026-07-30T06:22:29Z</dcterms:created>
  <dcterms:modified xsi:type="dcterms:W3CDTF">2026-07-30T06:22:29Z</dcterms:modified>
</cp:coreProperties>
</file>