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32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_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_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_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_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_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82430"/>
                </a:solidFill>
                <a:latin typeface="Arial"/>
              </a:defRPr>
            </a:pPr>
            <a:r>
              <a:rPr lang="ko-KR" altLang="en-US" sz="1200" b="0" i="0" u="none" strike="noStrike">
                <a:solidFill>
                  <a:srgbClr val="182430"/>
                </a:solidFill>
                <a:latin typeface="Arial"/>
              </a:rPr>
              <a:t>지연 여부별 평균 리뷰 점수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리뷰 점수</c:v>
                </c:pt>
              </c:strCache>
            </c:strRef>
          </c:tx>
          <c:spPr>
            <a:solidFill>
              <a:srgbClr val="1F6F7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4FF-B04A-B6E3-AC9DB4F28D7A}"/>
              </c:ext>
            </c:extLst>
          </c:dPt>
          <c:dPt>
            <c:idx val="1"/>
            <c:invertIfNegative val="0"/>
            <c:bubble3D val="0"/>
            <c:spPr>
              <a:solidFill>
                <a:srgbClr val="C1440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4FF-B04A-B6E3-AC9DB4F28D7A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8243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정시/조기 배송</c:v>
                </c:pt>
                <c:pt idx="1">
                  <c:v>배송 지연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4.2939999999999996</c:v>
                </c:pt>
                <c:pt idx="1">
                  <c:v>2.5649999999999999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4FF-B04A-B6E3-AC9DB4F28D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B55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9525" cap="flat">
              <a:solidFill>
                <a:srgbClr val="DD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82430"/>
                </a:solidFill>
                <a:latin typeface="Arial"/>
              </a:defRPr>
            </a:pPr>
            <a:r>
              <a:rPr lang="ko-KR" altLang="en-US" sz="1200" b="0" i="0" u="none" strike="noStrike">
                <a:solidFill>
                  <a:srgbClr val="182430"/>
                </a:solidFill>
                <a:latin typeface="Arial"/>
              </a:rPr>
              <a:t>지연 여부별 리뷰 점수 분포 </a:t>
            </a:r>
            <a:r>
              <a:rPr lang="en-US" altLang="ko-KR" sz="1200" b="0" i="0" u="none" strike="noStrike">
                <a:solidFill>
                  <a:srgbClr val="182430"/>
                </a:solidFill>
                <a:latin typeface="Arial"/>
              </a:rPr>
              <a:t>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정시/조기</c:v>
                </c:pt>
              </c:strCache>
            </c:strRef>
          </c:tx>
          <c:spPr>
            <a:solidFill>
              <a:srgbClr val="1F6F7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1점</c:v>
                </c:pt>
                <c:pt idx="1">
                  <c:v>2점</c:v>
                </c:pt>
                <c:pt idx="2">
                  <c:v>3점</c:v>
                </c:pt>
                <c:pt idx="3">
                  <c:v>4점</c:v>
                </c:pt>
                <c:pt idx="4">
                  <c:v>5점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6.59</c:v>
                </c:pt>
                <c:pt idx="1">
                  <c:v>2.63</c:v>
                </c:pt>
                <c:pt idx="2">
                  <c:v>7.99</c:v>
                </c:pt>
                <c:pt idx="3">
                  <c:v>20.36</c:v>
                </c:pt>
                <c:pt idx="4">
                  <c:v>62.43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1A-DE4B-9833-9E7B4A81A9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지연</c:v>
                </c:pt>
              </c:strCache>
            </c:strRef>
          </c:tx>
          <c:spPr>
            <a:solidFill>
              <a:srgbClr val="C1440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1점</c:v>
                </c:pt>
                <c:pt idx="1">
                  <c:v>2점</c:v>
                </c:pt>
                <c:pt idx="2">
                  <c:v>3점</c:v>
                </c:pt>
                <c:pt idx="3">
                  <c:v>4점</c:v>
                </c:pt>
                <c:pt idx="4">
                  <c:v>5점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46.22</c:v>
                </c:pt>
                <c:pt idx="1">
                  <c:v>7.83</c:v>
                </c:pt>
                <c:pt idx="2">
                  <c:v>11.38</c:v>
                </c:pt>
                <c:pt idx="3">
                  <c:v>12.32</c:v>
                </c:pt>
                <c:pt idx="4">
                  <c:v>22.24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1A-DE4B-9833-9E7B4A81A9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B55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solidFill>
                <a:srgbClr val="4B556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82430"/>
                </a:solidFill>
                <a:latin typeface="Arial"/>
              </a:defRPr>
            </a:pPr>
            <a:r>
              <a:rPr lang="ko-KR" altLang="en-US" sz="1200" b="0" i="0" u="none" strike="noStrike">
                <a:solidFill>
                  <a:srgbClr val="182430"/>
                </a:solidFill>
                <a:latin typeface="Arial"/>
              </a:rPr>
              <a:t>구간별 지연 민감도 </a:t>
            </a:r>
            <a:r>
              <a:rPr lang="en-US" altLang="ko-KR" sz="1200" b="0" i="0" u="none" strike="noStrike">
                <a:solidFill>
                  <a:srgbClr val="182430"/>
                </a:solidFill>
                <a:latin typeface="Arial"/>
              </a:rPr>
              <a:t>(</a:t>
            </a:r>
            <a:r>
              <a:rPr lang="en" sz="1200" b="0" i="0" u="none" strike="noStrike">
                <a:solidFill>
                  <a:srgbClr val="182430"/>
                </a:solidFill>
                <a:latin typeface="Arial"/>
              </a:rPr>
              <a:t>Cliff's delta)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Cliff's delta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B6E-D84F-94D0-EEBAD59C863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B6E-D84F-94D0-EEBAD59C8635}"/>
              </c:ext>
            </c:extLst>
          </c:dPt>
          <c:dPt>
            <c:idx val="2"/>
            <c:invertIfNegative val="0"/>
            <c:bubble3D val="0"/>
            <c:spPr>
              <a:solidFill>
                <a:srgbClr val="C1440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B6E-D84F-94D0-EEBAD59C8635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8243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승인</c:v>
                </c:pt>
                <c:pt idx="1">
                  <c:v>발송준비</c:v>
                </c:pt>
                <c:pt idx="2">
                  <c:v>운송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8.6999999999999994E-2</c:v>
                </c:pt>
                <c:pt idx="1">
                  <c:v>0.28399999999999997</c:v>
                </c:pt>
                <c:pt idx="2">
                  <c:v>0.73499999999999999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B6E-D84F-94D0-EEBAD59C86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D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82430"/>
                </a:solidFill>
                <a:latin typeface="Arial"/>
              </a:defRPr>
            </a:pPr>
            <a:r>
              <a:rPr lang="ko-KR" altLang="en-US" sz="1200" b="0" i="0" u="none" strike="noStrike">
                <a:solidFill>
                  <a:srgbClr val="182430"/>
                </a:solidFill>
                <a:latin typeface="Arial"/>
              </a:rPr>
              <a:t>전체 소요시간 중 구간별 비중 </a:t>
            </a:r>
            <a:r>
              <a:rPr lang="en-US" altLang="ko-KR" sz="1200" b="0" i="0" u="none" strike="noStrike">
                <a:solidFill>
                  <a:srgbClr val="182430"/>
                </a:solidFill>
                <a:latin typeface="Arial"/>
              </a:rPr>
              <a:t>(%)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승인</c:v>
                </c:pt>
              </c:strCache>
            </c:strRef>
          </c:tx>
          <c:spPr>
            <a:solidFill>
              <a:srgbClr val="B9D8D6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정시 주문</c:v>
                </c:pt>
                <c:pt idx="1">
                  <c:v>지연 주문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3.6</c:v>
                </c:pt>
                <c:pt idx="1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AE-7640-A6C4-1D779B1C2C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발송준비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정시 주문</c:v>
                </c:pt>
                <c:pt idx="1">
                  <c:v>지연 주문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24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AE-7640-A6C4-1D779B1C2C2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운송</c:v>
                </c:pt>
              </c:strCache>
            </c:strRef>
          </c:tx>
          <c:spPr>
            <a:solidFill>
              <a:srgbClr val="C1440E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정시 주문</c:v>
                </c:pt>
                <c:pt idx="1">
                  <c:v>지연 주문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72.400000000000006</c:v>
                </c:pt>
                <c:pt idx="1">
                  <c:v>81.400000000000006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AE-7640-A6C4-1D779B1C2C2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DD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solidFill>
                <a:srgbClr val="4B556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82430"/>
                </a:solidFill>
                <a:latin typeface="Arial"/>
              </a:defRPr>
            </a:pPr>
            <a:r>
              <a:rPr lang="ko-KR" altLang="en-US" sz="1200" b="0" i="0" u="none" strike="noStrike">
                <a:solidFill>
                  <a:srgbClr val="182430"/>
                </a:solidFill>
                <a:latin typeface="Arial"/>
              </a:rPr>
              <a:t>카테고리별 </a:t>
            </a:r>
            <a:r>
              <a:rPr lang="en" sz="1200" b="0" i="0" u="none" strike="noStrike">
                <a:solidFill>
                  <a:srgbClr val="182430"/>
                </a:solidFill>
                <a:latin typeface="Arial"/>
              </a:rPr>
              <a:t>Cliff's delta (</a:t>
            </a:r>
            <a:r>
              <a:rPr lang="ko-KR" altLang="en-US" sz="1200" b="0" i="0" u="none" strike="noStrike">
                <a:solidFill>
                  <a:srgbClr val="182430"/>
                </a:solidFill>
                <a:latin typeface="Arial"/>
              </a:rPr>
              <a:t>지연 </a:t>
            </a:r>
            <a:r>
              <a:rPr lang="en" sz="1200" b="0" i="0" u="none" strike="noStrike">
                <a:solidFill>
                  <a:srgbClr val="182430"/>
                </a:solidFill>
                <a:latin typeface="Arial"/>
              </a:rPr>
              <a:t>vs </a:t>
            </a:r>
            <a:r>
              <a:rPr lang="ko-KR" altLang="en-US" sz="1200" b="0" i="0" u="none" strike="noStrike">
                <a:solidFill>
                  <a:srgbClr val="182430"/>
                </a:solidFill>
                <a:latin typeface="Arial"/>
              </a:rPr>
              <a:t>정시</a:t>
            </a:r>
            <a:r>
              <a:rPr lang="en-US" altLang="ko-KR" sz="1200" b="0" i="0" u="none" strike="noStrike">
                <a:solidFill>
                  <a:srgbClr val="182430"/>
                </a:solidFill>
                <a:latin typeface="Arial"/>
              </a:rPr>
              <a:t>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Cliff's delta</c:v>
                </c:pt>
              </c:strCache>
            </c:strRef>
          </c:tx>
          <c:spPr>
            <a:solidFill>
              <a:srgbClr val="C1440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8243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housewares</c:v>
                </c:pt>
                <c:pt idx="1">
                  <c:v>computers_accessories</c:v>
                </c:pt>
                <c:pt idx="2">
                  <c:v>telephony</c:v>
                </c:pt>
                <c:pt idx="3">
                  <c:v>furniture_decor</c:v>
                </c:pt>
                <c:pt idx="4">
                  <c:v>bed_bath_table</c:v>
                </c:pt>
                <c:pt idx="5">
                  <c:v>auto</c:v>
                </c:pt>
                <c:pt idx="6">
                  <c:v>health_beauty</c:v>
                </c:pt>
                <c:pt idx="7">
                  <c:v>sports_leisure</c:v>
                </c:pt>
                <c:pt idx="8">
                  <c:v>watches_gifts</c:v>
                </c:pt>
                <c:pt idx="9">
                  <c:v>toys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-0.51359999999999995</c:v>
                </c:pt>
                <c:pt idx="1">
                  <c:v>-0.5262</c:v>
                </c:pt>
                <c:pt idx="2">
                  <c:v>-0.50680000000000003</c:v>
                </c:pt>
                <c:pt idx="3">
                  <c:v>-0.52880000000000005</c:v>
                </c:pt>
                <c:pt idx="4">
                  <c:v>-0.52029999999999998</c:v>
                </c:pt>
                <c:pt idx="5">
                  <c:v>-0.55000000000000004</c:v>
                </c:pt>
                <c:pt idx="6">
                  <c:v>-0.5544</c:v>
                </c:pt>
                <c:pt idx="7">
                  <c:v>-0.5948</c:v>
                </c:pt>
                <c:pt idx="8">
                  <c:v>-0.60050000000000003</c:v>
                </c:pt>
                <c:pt idx="9">
                  <c:v>-0.627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C1-D245-8962-4C463C40D9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"/>
          <c:min val="-0.7"/>
        </c:scaling>
        <c:delete val="0"/>
        <c:axPos val="b"/>
        <c:majorGridlines>
          <c:spPr>
            <a:ln w="9525" cap="flat">
              <a:solidFill>
                <a:srgbClr val="DD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82430"/>
                </a:solidFill>
                <a:latin typeface="Arial"/>
              </a:defRPr>
            </a:pPr>
            <a:r>
              <a:rPr lang="ko-KR" altLang="en-US" sz="1200" b="0" i="0" u="none" strike="noStrike">
                <a:solidFill>
                  <a:srgbClr val="182430"/>
                </a:solidFill>
                <a:latin typeface="Arial"/>
              </a:rPr>
              <a:t>이벤트</a:t>
            </a:r>
            <a:r>
              <a:rPr lang="en-US" altLang="ko-KR" sz="1200" b="0" i="0" u="none" strike="noStrike">
                <a:solidFill>
                  <a:srgbClr val="182430"/>
                </a:solidFill>
                <a:latin typeface="Arial"/>
              </a:rPr>
              <a:t>(±7</a:t>
            </a:r>
            <a:r>
              <a:rPr lang="ko-KR" altLang="en-US" sz="1200" b="0" i="0" u="none" strike="noStrike">
                <a:solidFill>
                  <a:srgbClr val="182430"/>
                </a:solidFill>
                <a:latin typeface="Arial"/>
              </a:rPr>
              <a:t>일</a:t>
            </a:r>
            <a:r>
              <a:rPr lang="en-US" altLang="ko-KR" sz="1200" b="0" i="0" u="none" strike="noStrike">
                <a:solidFill>
                  <a:srgbClr val="182430"/>
                </a:solidFill>
                <a:latin typeface="Arial"/>
              </a:rPr>
              <a:t>) </a:t>
            </a:r>
            <a:r>
              <a:rPr lang="en" sz="1200" b="0" i="0" u="none" strike="noStrike">
                <a:solidFill>
                  <a:srgbClr val="182430"/>
                </a:solidFill>
                <a:latin typeface="Arial"/>
              </a:rPr>
              <a:t>vs </a:t>
            </a:r>
            <a:r>
              <a:rPr lang="ko-KR" altLang="en-US" sz="1200" b="0" i="0" u="none" strike="noStrike">
                <a:solidFill>
                  <a:srgbClr val="182430"/>
                </a:solidFill>
                <a:latin typeface="Arial"/>
              </a:rPr>
              <a:t>연간 평균 지연율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이벤트 구간(±7일) 지연율(%)</c:v>
                </c:pt>
              </c:strCache>
            </c:strRef>
          </c:tx>
          <c:spPr>
            <a:solidFill>
              <a:srgbClr val="C1440E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블랙프라이데이
2017</c:v>
                </c:pt>
                <c:pt idx="1">
                  <c:v>크리스마스
2017</c:v>
                </c:pt>
                <c:pt idx="2">
                  <c:v>어머니날
2017</c:v>
                </c:pt>
                <c:pt idx="3">
                  <c:v>어머니날
2018</c:v>
                </c:pt>
                <c:pt idx="4">
                  <c:v>연인의날
2017</c:v>
                </c:pt>
                <c:pt idx="5">
                  <c:v>연인의날
2018</c:v>
                </c:pt>
                <c:pt idx="6">
                  <c:v>어린이날
2017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17.940000000000001</c:v>
                </c:pt>
                <c:pt idx="1">
                  <c:v>5.19</c:v>
                </c:pt>
                <c:pt idx="2">
                  <c:v>3.65</c:v>
                </c:pt>
                <c:pt idx="3">
                  <c:v>11.26</c:v>
                </c:pt>
                <c:pt idx="4">
                  <c:v>3.99</c:v>
                </c:pt>
                <c:pt idx="5">
                  <c:v>1.87</c:v>
                </c:pt>
                <c:pt idx="6">
                  <c:v>5.73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6F-1549-B378-2BFF21121A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연간 평균 지연율(%)</c:v>
                </c:pt>
              </c:strCache>
            </c:strRef>
          </c:tx>
          <c:spPr>
            <a:solidFill>
              <a:srgbClr val="C9C2AE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블랙프라이데이
2017</c:v>
                </c:pt>
                <c:pt idx="1">
                  <c:v>크리스마스
2017</c:v>
                </c:pt>
                <c:pt idx="2">
                  <c:v>어머니날
2017</c:v>
                </c:pt>
                <c:pt idx="3">
                  <c:v>어머니날
2018</c:v>
                </c:pt>
                <c:pt idx="4">
                  <c:v>연인의날
2017</c:v>
                </c:pt>
                <c:pt idx="5">
                  <c:v>연인의날
2018</c:v>
                </c:pt>
                <c:pt idx="6">
                  <c:v>어린이날
2017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5.0199999999999996</c:v>
                </c:pt>
                <c:pt idx="1">
                  <c:v>6.57</c:v>
                </c:pt>
                <c:pt idx="2">
                  <c:v>6.63</c:v>
                </c:pt>
                <c:pt idx="3">
                  <c:v>9.09</c:v>
                </c:pt>
                <c:pt idx="4">
                  <c:v>6.61</c:v>
                </c:pt>
                <c:pt idx="5">
                  <c:v>9.7200000000000006</c:v>
                </c:pt>
                <c:pt idx="6">
                  <c:v>6.55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6F-1549-B378-2BFF21121A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4B556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월별 지연율(%)</c:v>
                </c:pt>
              </c:strCache>
            </c:strRef>
          </c:tx>
          <c:spPr>
            <a:solidFill>
              <a:srgbClr val="C1440E">
                <a:alpha val="100000"/>
              </a:srgbClr>
            </a:solidFill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17-01</c:v>
                </c:pt>
                <c:pt idx="1">
                  <c:v>17-02</c:v>
                </c:pt>
                <c:pt idx="2">
                  <c:v>17-03</c:v>
                </c:pt>
                <c:pt idx="3">
                  <c:v>17-04</c:v>
                </c:pt>
                <c:pt idx="4">
                  <c:v>17-05</c:v>
                </c:pt>
                <c:pt idx="5">
                  <c:v>17-06</c:v>
                </c:pt>
                <c:pt idx="6">
                  <c:v>17-07</c:v>
                </c:pt>
                <c:pt idx="7">
                  <c:v>17-08</c:v>
                </c:pt>
                <c:pt idx="8">
                  <c:v>17-09</c:v>
                </c:pt>
                <c:pt idx="9">
                  <c:v>17-10</c:v>
                </c:pt>
                <c:pt idx="10">
                  <c:v>17-11</c:v>
                </c:pt>
                <c:pt idx="11">
                  <c:v>17-12</c:v>
                </c:pt>
                <c:pt idx="12">
                  <c:v>18-01</c:v>
                </c:pt>
                <c:pt idx="13">
                  <c:v>18-02</c:v>
                </c:pt>
                <c:pt idx="14">
                  <c:v>18-03</c:v>
                </c:pt>
                <c:pt idx="15">
                  <c:v>18-04</c:v>
                </c:pt>
                <c:pt idx="16">
                  <c:v>18-05</c:v>
                </c:pt>
                <c:pt idx="17">
                  <c:v>18-06</c:v>
                </c:pt>
                <c:pt idx="18">
                  <c:v>18-07</c:v>
                </c:pt>
                <c:pt idx="19">
                  <c:v>18-08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2.97</c:v>
                </c:pt>
                <c:pt idx="1">
                  <c:v>2.8</c:v>
                </c:pt>
                <c:pt idx="2">
                  <c:v>5.5</c:v>
                </c:pt>
                <c:pt idx="3">
                  <c:v>7.73</c:v>
                </c:pt>
                <c:pt idx="4">
                  <c:v>3.44</c:v>
                </c:pt>
                <c:pt idx="5">
                  <c:v>3.79</c:v>
                </c:pt>
                <c:pt idx="6">
                  <c:v>3.36</c:v>
                </c:pt>
                <c:pt idx="7">
                  <c:v>3.31</c:v>
                </c:pt>
                <c:pt idx="8">
                  <c:v>5.12</c:v>
                </c:pt>
                <c:pt idx="9">
                  <c:v>5.15</c:v>
                </c:pt>
                <c:pt idx="10">
                  <c:v>14.15</c:v>
                </c:pt>
                <c:pt idx="11">
                  <c:v>8.26</c:v>
                </c:pt>
                <c:pt idx="12">
                  <c:v>6.49</c:v>
                </c:pt>
                <c:pt idx="13">
                  <c:v>15.89</c:v>
                </c:pt>
                <c:pt idx="14">
                  <c:v>21.06</c:v>
                </c:pt>
                <c:pt idx="15">
                  <c:v>5.2</c:v>
                </c:pt>
                <c:pt idx="16">
                  <c:v>8.18</c:v>
                </c:pt>
                <c:pt idx="17">
                  <c:v>1.37</c:v>
                </c:pt>
                <c:pt idx="18">
                  <c:v>4.3499999999999996</c:v>
                </c:pt>
                <c:pt idx="19">
                  <c:v>10.28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16-B748-8747-DD9911C7F8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50" b="0" i="0" u="none" strike="noStrike">
                <a:solidFill>
                  <a:srgbClr val="4B55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5944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2743200" cy="310896"/>
          </a:xfrm>
          <a:prstGeom prst="roundRect">
            <a:avLst>
              <a:gd name="adj" fmla="val 17647"/>
            </a:avLst>
          </a:prstGeom>
          <a:solidFill>
            <a:srgbClr val="C1440E"/>
          </a:solidFill>
          <a:ln/>
        </p:spPr>
        <p:txBody>
          <a:bodyPr wrap="square" lIns="0" tIns="1778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74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배송이 늦으면 리뷰는 </a:t>
            </a:r>
            <a:r>
              <a:rPr lang="en-US" sz="2700" b="1" dirty="0" err="1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무너진다</a:t>
            </a:r>
            <a:r>
              <a:rPr lang="en-US" sz="2700" b="1" dirty="0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— "얼마나"가 아니라 "늦었다는 사실" 자체가 원인이다</a:t>
            </a:r>
            <a:endParaRPr lang="en-US" sz="27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B9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브라질 이커머스 공개 데이터 95,824건 분석 · 지연 여부가 리뷰 점수를 좌우하는 가장 강력한 단일 변수로 확인됨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95728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1C2E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03504" y="250545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95,824건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3504" y="307238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9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표본 (전체 99,441건 중)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36976" y="2395728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1C2E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383280" y="250545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7.99%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83280" y="307238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9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배송 지연율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16752" y="2395728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1C2E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163056" y="250545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091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4.29 → 2.57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63056" y="307238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9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정시 vs 지연 평균 리뷰 점수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96528" y="2395728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1C2E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942832" y="250545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091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-0.55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942832" y="307238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9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Cliff's delta (large 효과, p&lt;.001)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발견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300" dirty="0">
                <a:solidFill>
                  <a:srgbClr val="E7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 시 리뷰 하락은 카테고리·가격·할부를 통제해도 그대로 유지된다 (OLS β=-1.72, 순서형 로지스틱 β=-2.22, 둘 다 p&lt;.001)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300" dirty="0">
                <a:solidFill>
                  <a:srgbClr val="E7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지연의 81%가 판매자가 아닌 운송(라스트마일) 구간에서 발생한다 (Cliff's δ=0.74)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300" dirty="0">
                <a:solidFill>
                  <a:srgbClr val="E7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블랙프라이데이 외에도, 이름 붙지 않은 2018년 2~3월 병목이 동급 피해(지연율 18.6%)를 냈다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3703320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9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제언 미리보기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4023360"/>
            <a:ext cx="54681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300" dirty="0">
                <a:solidFill>
                  <a:srgbClr val="E7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오퍼레이션팀: 성수기(11/20~12/8) 배송 버퍼 반영 + 운송 용량 사전 확보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300" dirty="0">
                <a:solidFill>
                  <a:srgbClr val="E7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CX팀: 위험지수 상위 카테고리(시계·선물, 뷰티) 판매자 SLA 실시간 모니터링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300" dirty="0">
                <a:solidFill>
                  <a:srgbClr val="E7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오퍼레이션팀: 월별 지연율 이상탐지 체계 구축으로 "이름 없는" 병목 조기 포착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Dataset (Kaggle) · 배송 지연 → 리뷰 경험 분석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291840" cy="310896"/>
          </a:xfrm>
          <a:prstGeom prst="roundRect">
            <a:avLst>
              <a:gd name="adj" fmla="val 17647"/>
            </a:avLst>
          </a:prstGeom>
          <a:solidFill>
            <a:srgbClr val="182430"/>
          </a:solidFill>
          <a:ln/>
        </p:spPr>
        <p:txBody>
          <a:bodyPr wrap="square" lIns="0" tIns="1778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비즈니스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74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"배송 지연이 리뷰를 낮추는가, 그렇다면 어디부터 손봐야 하는가" </a:t>
            </a:r>
            <a:r>
              <a:rPr lang="en-US" sz="2700" b="1" dirty="0" err="1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를</a:t>
            </a: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 err="1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통계로</a:t>
            </a: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 검증한다</a:t>
            </a:r>
            <a:endParaRPr lang="en-US" sz="27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시나리오: 고객경험(CX)팀과 물류 오퍼레이션팀이 공유하는 문제의식을 분석 질문으로 번역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1274552" cy="1005840"/>
          </a:xfrm>
          <a:prstGeom prst="roundRect">
            <a:avLst>
              <a:gd name="adj" fmla="val 7273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가정한 요청 배경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724912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“최근 리뷰 점수가 흔들리는데, 배송 지연 때문인지 확인하고 싶다. 만약 그렇다면 운송사·판매자·상품 중 어디에 자원을 먼저 투입해야 하는가?”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→ 분석 질문 번역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11274552" cy="23317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2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비즈니스 요청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분석 질문으로 번역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지연이 리뷰를 낮추나?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핵심질문 — 지연 여부/일수와 리뷰 점수의 관계 (Spearman, Mann-Whitney U, Cliff's δ)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다른 요인 때문 아닌가?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보조 — 카테고리·가격·할부를 통제해도 효과가 유지되는가 (OLS, 순서형 로지스틱)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어디부터 손봐야 하나?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보조질문 1 — 승인·발송준비·운송 중 어느 단계가 지연을 주도하는가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어디부터 손봐야 하나? (2)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보조질문 2 — 카테고리별로 지연-리뷰 민감도가 다른가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연중 리스크는 언제 큰가?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보조질문 3 — 성수기 캘린더(블랙프라이데이 등)가 지연을 예측하는가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Dataset (Kaggle) · 배송 지연 → 리뷰 경험 분석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291840" cy="310896"/>
          </a:xfrm>
          <a:prstGeom prst="roundRect">
            <a:avLst>
              <a:gd name="adj" fmla="val 17647"/>
            </a:avLst>
          </a:prstGeom>
          <a:solidFill>
            <a:srgbClr val="1F6F78"/>
          </a:solidFill>
          <a:ln/>
        </p:spPr>
        <p:txBody>
          <a:bodyPr wrap="square" lIns="0" tIns="1778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데이터 &amp; 전처리 판단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74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천장효과가 있는 리뷰 점수이기에, 평균 대신 순위 기반 </a:t>
            </a:r>
            <a:r>
              <a:rPr lang="en-US" sz="2700" b="1" dirty="0" err="1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검정을</a:t>
            </a: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 err="1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판단</a:t>
            </a: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 기준으로 삼았다</a:t>
            </a:r>
            <a:endParaRPr lang="en-US" sz="27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· Brazilian E-Commerce Public Dataset by Olist (9개 테이블, 2016-09 ~ 2018-08)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DCEB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85216" y="242316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4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99,441건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2807208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주문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82696" y="23317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410712" y="242316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4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delivered 필터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10712" y="2807208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배송완료 건만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08192" y="23317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36208" y="242316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4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리뷰 매칭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36208" y="2807208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리뷰 1건/주문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33688" y="23317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DCEB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061704" y="242316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4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95,824건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61704" y="2807208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분석 표본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401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판단 — 무엇을 했는지가 아니라 “왜” 그렇게 판단했는지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67328"/>
            <a:ext cx="3639312" cy="2331720"/>
          </a:xfrm>
          <a:prstGeom prst="roundRect">
            <a:avLst>
              <a:gd name="adj" fmla="val 3137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1792" y="387705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F4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1:N 중복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" y="4151376"/>
            <a:ext cx="33101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주문에 리뷰가 여러 건이면 시간순 “가장 최근 리뷰”만 채택 — 판매자 대응 이후 고객이 재작성한 리뷰가 최종 반응에 가깝다고 판단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79392" y="3767328"/>
            <a:ext cx="3639312" cy="2331720"/>
          </a:xfrm>
          <a:prstGeom prst="roundRect">
            <a:avLst>
              <a:gd name="adj" fmla="val 3137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443984" y="387705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F4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점수 천장효과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43984" y="4151376"/>
            <a:ext cx="33101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5점 단독 비중 59.2%, 4~5점 78.9% — t검정 대신 Spearman·Mann-Whitney U·Cliff's δ 등 비모수 방법을 핵심 검정으로 채택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01584" y="3767328"/>
            <a:ext cx="3639312" cy="2331720"/>
          </a:xfrm>
          <a:prstGeom prst="roundRect">
            <a:avLst>
              <a:gd name="adj" fmla="val 3137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266176" y="387705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F4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구간별 소요일수 음수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66176" y="4151376"/>
            <a:ext cx="33101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구매→승인→운송 타임스탬프 역전 1.43% 발견 — 논리적으로 불가능한 데이터 오류로 판단, 구간분석에서만 제외(n=94,443)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Dataset (Kaggle) · 배송 지연 → 리뷰 경험 분석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C1440E"/>
          </a:solidFill>
          <a:ln/>
        </p:spPr>
        <p:txBody>
          <a:bodyPr wrap="square" lIns="0" tIns="1778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지연되면 평균 리뷰가 4.29 → 2.57점으로 </a:t>
            </a:r>
            <a:r>
              <a:rPr lang="en-US" sz="2700" b="1" dirty="0" err="1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급락한다</a:t>
            </a: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(Cliff's δ=-0.55, p&lt;.001)</a:t>
            </a:r>
            <a:endParaRPr lang="en-US" sz="27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핵심질문: 지연 여부 · 지연 일수와 리뷰 점수의 관계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148840"/>
          <a:ext cx="42062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892040" y="2148840"/>
          <a:ext cx="6839712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5166360"/>
            <a:ext cx="11274552" cy="1280160"/>
          </a:xfrm>
          <a:prstGeom prst="roundRect">
            <a:avLst>
              <a:gd name="adj" fmla="val 5714"/>
            </a:avLst>
          </a:prstGeom>
          <a:solidFill>
            <a:srgbClr val="F6DF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/>
          <p:nvPr/>
        </p:nvSpPr>
        <p:spPr>
          <a:xfrm>
            <a:off x="621792" y="5276088"/>
            <a:ext cx="10945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7A2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+ 통계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21792" y="5550408"/>
            <a:ext cx="11109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ρ(지연일수)=-0.176, Mann-Whitney U p&lt;.001, Cliff's δ(지연여부)=-0.554(large) — “얼마나”보다 “늦었다는 사실” 자체가 리뷰를 좌우한다. </a:t>
            </a:r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 err="1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카테고리·가격·할부를</a:t>
            </a:r>
            <a:r>
              <a:rPr lang="en-US" sz="12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통제해도 효과는 그대로 유지된다(OLS β=-1.72, 순서형 로지스틱 β=-2.22, 모두 p&lt;.001, n=60,41</a:t>
            </a:r>
            <a:r>
              <a:rPr lang="en-US" altLang="ko-KR" sz="12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2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250" dirty="0" err="1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</a:t>
            </a:r>
            <a:r>
              <a:rPr lang="en-US" sz="12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상관을 넘어선 실질적 효과로 볼 근거다.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Dataset (Kaggle) · 배송 지연 → 리뷰 경험 분석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C1440E"/>
          </a:solidFill>
          <a:ln/>
        </p:spPr>
        <p:txBody>
          <a:bodyPr wrap="square" lIns="0" tIns="1778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지연의 원인은 판매자가 아니라 운송 구간이다 (Cliff's δ=0.74, 압도적)</a:t>
            </a:r>
            <a:endParaRPr lang="en-US" sz="27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보조질문 1: 승인 · 발송준비 · 운송 중 어느 단계가 지연을 주도하는가 (n=94,443)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148840"/>
          <a:ext cx="51206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806440" y="2148840"/>
          <a:ext cx="5925312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5166360"/>
            <a:ext cx="11274552" cy="1280160"/>
          </a:xfrm>
          <a:prstGeom prst="roundRect">
            <a:avLst>
              <a:gd name="adj" fmla="val 5714"/>
            </a:avLst>
          </a:prstGeom>
          <a:solidFill>
            <a:srgbClr val="F6DF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/>
          <p:nvPr/>
        </p:nvSpPr>
        <p:spPr>
          <a:xfrm>
            <a:off x="621792" y="5276088"/>
            <a:ext cx="10945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7A2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21792" y="5550408"/>
            <a:ext cx="10945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 주문의 운송 소요일 중앙값은 23.87일로 정시 주문(6.93일)의 3배 이상이다. 반면 승인(0.01→0.02일)과 발송준비(1.78→3.02일)는 상대적으로 미미하다 — 지연은 판매자의 처리 속도가 아니라 운송사의 실제 배송 구간에서 발생한다.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Dataset (Kaggle) · 배송 지연 → 리뷰 경험 분석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C1440E"/>
          </a:solidFill>
          <a:ln/>
        </p:spPr>
        <p:txBody>
          <a:bodyPr wrap="square" lIns="0" tIns="1778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99" y="786384"/>
            <a:ext cx="115685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모든 카테고리가 취약하지만, 시계 · 선물과 뷰티 카테고리가 유독 크게 흔들린다</a:t>
            </a:r>
            <a:endParaRPr lang="en-US" sz="27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보조질문 2: 상위 10개 카테고리(전체 63.0%)의 지연-리뷰 민감도 비교, 상호작용 F=5.67, p&lt;.001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148840"/>
          <a:ext cx="64922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178040" y="2148840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위험지수 상위 카테고리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2487168"/>
          <a:ext cx="4553712" cy="16916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카테고리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지연율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위험지수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watches_gifts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health_beauty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sports_leisure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178040" y="4224528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위험지수 = 지연율 × |평균 점수 하락폭|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7178040" y="4617720"/>
            <a:ext cx="4553712" cy="1874520"/>
          </a:xfrm>
          <a:prstGeom prst="roundRect">
            <a:avLst>
              <a:gd name="adj" fmla="val 3902"/>
            </a:avLst>
          </a:prstGeom>
          <a:solidFill>
            <a:srgbClr val="F6DF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7342632" y="4727448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7A2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342632" y="5001768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10개 카테고리 모두 δ -0.51~-0.63으로 “large” 효과를 보이지만, 강도 차이는 상호작용항 검정(F=5.67, p&lt;.001)으로 통계적으로 실재한다. 기대치가 높은 선물·미용 카테고리일수록 같은 지연에도 리뷰 타격이 크다.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Dataset (Kaggle) · 배송 지연 → 리뷰 경험 분석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C1440E"/>
          </a:solidFill>
          <a:ln/>
        </p:spPr>
        <p:txBody>
          <a:bodyPr wrap="square" lIns="0" tIns="1778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성수기 중 블랙프라이데이만 지연과 뚜렷이 </a:t>
            </a:r>
            <a:r>
              <a:rPr lang="en-US" sz="2700" b="1" dirty="0" err="1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연결된다</a:t>
            </a: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(구간 지연율 17.9%, 평시의 3.5배)</a:t>
            </a:r>
            <a:endParaRPr lang="en-US" sz="27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보조질문 3: 이름 붙은 성수기 이벤트가 지연을 예측하는가 (검증 가능한 블랙프라이데이는 2017년 1회)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148840"/>
          <a:ext cx="667512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2148840"/>
            <a:ext cx="4325112" cy="960120"/>
          </a:xfrm>
          <a:prstGeom prst="roundRect">
            <a:avLst>
              <a:gd name="adj" fmla="val 7619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516368" y="2240280"/>
            <a:ext cx="41056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2.77×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516368" y="2744114"/>
            <a:ext cx="4105656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블랙프라이데이 구간 주문량 증폭 (평시 대비)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406640" y="3218688"/>
            <a:ext cx="4325112" cy="960120"/>
          </a:xfrm>
          <a:prstGeom prst="roundRect">
            <a:avLst>
              <a:gd name="adj" fmla="val 7619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516368" y="3310128"/>
            <a:ext cx="41056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B4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-4일 ~ +14일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516368" y="3813962"/>
            <a:ext cx="4105656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지연율 11~23% 고원(plateau) 구간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406640" y="4297680"/>
            <a:ext cx="4325112" cy="2194560"/>
          </a:xfrm>
          <a:prstGeom prst="roundRect">
            <a:avLst>
              <a:gd name="adj" fmla="val 3333"/>
            </a:avLst>
          </a:prstGeom>
          <a:solidFill>
            <a:srgbClr val="F6DF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571232" y="4407408"/>
            <a:ext cx="3995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7A2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571232" y="4681728"/>
            <a:ext cx="39959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검정한 7개 이벤트-연도 조합 중 블랙프라이데이 2017만 뚜렷하고 강한 효과를 보인다(χ² p≈1.2×10⁻²⁶³). 크리스마스·어머니날·연인의날·어린이날은 주문량 증폭이 거의 없거나 오히려 구간 지연율이 낮았다. 지연율은 경과일 -4~+14일 약 3주간 고원을 형성한다.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Dataset (Kaggle) · 배송 지연 → 리뷰 경험 분석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2743200" cy="310896"/>
          </a:xfrm>
          <a:prstGeom prst="roundRect">
            <a:avLst>
              <a:gd name="adj" fmla="val 17647"/>
            </a:avLst>
          </a:prstGeom>
          <a:solidFill>
            <a:srgbClr val="C1440E"/>
          </a:solidFill>
          <a:ln/>
        </p:spPr>
        <p:txBody>
          <a:bodyPr wrap="square" lIns="0" tIns="1778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FINDING (후속 분석)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2018년 2~3월, 이름 없는 병목이 블랙프라이데이급 피해를 </a:t>
            </a:r>
            <a:r>
              <a:rPr lang="en-US" sz="2700" b="1" dirty="0" err="1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냈다</a:t>
            </a: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(지연율 18.56%)</a:t>
            </a:r>
            <a:endParaRPr lang="en-US" sz="27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지연율을 재점검하다 발견 — 지정된 이벤트 캘린더 밖에서 발생한 전국 단위 병목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148840"/>
          <a:ext cx="11274552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742432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2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블랙프라이데이 2017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73252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A2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미확인 Q1 병목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617720"/>
          <a:ext cx="11274552" cy="1828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점검 항목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결과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특정 지역 문제?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SP(허브)도 5.1%→10.2%, 원거리(CE·MA·RJ)는 3~4배↑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전국 확산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상품 구성 변화?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카테고리 비중 차이 1~4%p 수준, 미미함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6F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구성 문제 아님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예상배송일 산정 오류?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예상일 23.8→23.2일 동일, 실제일만 11.9→16.6일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6F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실행 지연, 약속은 그대로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어느 단계?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운송 구간 중앙값 6.98→10.59일 급증, 승인/발송준비는 거의 그대로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운송 병목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Dataset (Kaggle) · 배송 지연 → 리뷰 경험 분석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1F6F78"/>
          </a:solidFill>
          <a:ln/>
        </p:spPr>
        <p:txBody>
          <a:bodyPr wrap="square" lIns="0" tIns="1778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고객은 “평균 배송일”이 아니라 “약속을 지켰는가”라는 이분법으로 반응한다</a:t>
            </a:r>
            <a:endParaRPr lang="en-US" sz="27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발견(Finding)이 비즈니스 맥락에서 갖는 의미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468112" cy="1554480"/>
          </a:xfrm>
          <a:prstGeom prst="roundRect">
            <a:avLst>
              <a:gd name="adj" fmla="val 4706"/>
            </a:avLst>
          </a:prstGeom>
          <a:solidFill>
            <a:srgbClr val="DCEB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21792" y="2441448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F4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신뢰는 이분법이다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" y="2715768"/>
            <a:ext cx="5138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 일수보다 지연 여부 자체가 리뷰를 좌우한다는 것은, 목표가 “평균 배송일 단축”이 아니라 “정시율” 자체여야 한다는 뜻이다.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45352" y="2331720"/>
            <a:ext cx="5468112" cy="1554480"/>
          </a:xfrm>
          <a:prstGeom prst="roundRect">
            <a:avLst>
              <a:gd name="adj" fmla="val 4706"/>
            </a:avLst>
          </a:prstGeom>
          <a:solidFill>
            <a:srgbClr val="DCEB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9944" y="2441448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F4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레버리지는 운송에 있다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9944" y="2715768"/>
            <a:ext cx="5138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지연의 81%가 운송 구간에서 발생한다 — 판매자를 압박하는 것보다 운송사 성과 관리에 자원을 쓰는 편이 훨씬 효율적이다.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5468112" cy="1554480"/>
          </a:xfrm>
          <a:prstGeom prst="roundRect">
            <a:avLst>
              <a:gd name="adj" fmla="val 4706"/>
            </a:avLst>
          </a:prstGeom>
          <a:solidFill>
            <a:srgbClr val="DCEB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1792" y="4270248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F4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기대치가 타격을 키운다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4544568"/>
            <a:ext cx="5138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“기대치가 높은” 선물·뷰티 카테고리는 동일한 지연에도 리뷰 타격이 더 크다 — 전사 일괄 대응보다 카테고리별 우선순위가 필요하다.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45352" y="4160520"/>
            <a:ext cx="5468112" cy="1554480"/>
          </a:xfrm>
          <a:prstGeom prst="roundRect">
            <a:avLst>
              <a:gd name="adj" fmla="val 4706"/>
            </a:avLst>
          </a:prstGeom>
          <a:solidFill>
            <a:srgbClr val="DCEB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9944" y="4270248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F4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캘린더엔 사각지대가 있다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9944" y="4544568"/>
            <a:ext cx="5138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“이름 붙은 이벤트만 대비”하는 방식은 구조적 한계가 있다 — 2018 Q1처럼 이름 없는 병목이 블랙프라이데이급 피해를 낼 수 있다.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Dataset (Kaggle) · 배송 지연 → 리뷰 경험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2743200" cy="310896"/>
          </a:xfrm>
          <a:prstGeom prst="roundRect">
            <a:avLst>
              <a:gd name="adj" fmla="val 17647"/>
            </a:avLst>
          </a:prstGeom>
          <a:solidFill>
            <a:srgbClr val="6B4712"/>
          </a:solidFill>
          <a:ln/>
        </p:spPr>
        <p:txBody>
          <a:bodyPr wrap="square" lIns="0" tIns="1778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RECOMMENDATION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74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오퍼레이션팀은 성수기 배송 버퍼와 운송 용량 사전 </a:t>
            </a:r>
            <a:r>
              <a:rPr lang="en-US" sz="2700" b="1" dirty="0" err="1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확보를</a:t>
            </a: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 err="1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지금</a:t>
            </a: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 계약에 반영해야 한다</a:t>
            </a:r>
            <a:endParaRPr lang="en-US" sz="27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누가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194560" y="224028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오퍼레이션팀 · 물류 계약 담당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94560" y="32461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예상배송일 산정 로직에 11/20~12/8 성수기 버퍼 반영, 해당 구간 운송사와 사전 용량 확보 협의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42519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언제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94560" y="425196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성수기 진입 전(늦어도 10월 중), 운송 계약 갱신 시점에 맞춰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521208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DCEB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1792" y="5321808"/>
            <a:ext cx="10945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F4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5596128"/>
            <a:ext cx="10945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성수기 지연율 완화 → §04에서 확인된 지연-리뷰 관계(Cliff's δ=-0.55)를 감안하면 리뷰 점수 개선으로 직결. 배송 관련 CS 문의량 감소로 CX팀 운영 부담도 함께 낮아질 것으로 기대.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Dataset (Kaggle) · 배송 지연 → 리뷰 경험 분석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2743200" cy="310896"/>
          </a:xfrm>
          <a:prstGeom prst="roundRect">
            <a:avLst>
              <a:gd name="adj" fmla="val 17647"/>
            </a:avLst>
          </a:prstGeom>
          <a:solidFill>
            <a:srgbClr val="6B4712"/>
          </a:solidFill>
          <a:ln/>
        </p:spPr>
        <p:txBody>
          <a:bodyPr wrap="square" lIns="0" tIns="1778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RECOMMENDATION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74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CX팀은 위험지수 상위 카테고리 판매자에 SLA 실시간 </a:t>
            </a:r>
            <a:r>
              <a:rPr lang="en-US" sz="2700" b="1" dirty="0" err="1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모니터링을</a:t>
            </a: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 err="1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우선</a:t>
            </a: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 적용해야 한다</a:t>
            </a:r>
            <a:endParaRPr lang="en-US" sz="27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누가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194560" y="224028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94560" y="32461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위험지수 상위 5개 카테고리(시계·선물, 뷰티, 스포츠, 완구, 자동차) 판매자 대상 배송 SLA 실시간 모니터링 + 지연 임박 시 고객 사전 알림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42519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언제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94560" y="425196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분기 내 파일럿 시작, 효과 확인 후 전체 카테고리로 확대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521208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DCEB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1792" y="5321808"/>
            <a:ext cx="10945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F4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5596128"/>
            <a:ext cx="10945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고위험 카테고리의 리뷰 하락폭 완화(§06 위험지수 상위 5개 카테고리가 전체 위험의 상당 부분을 차지). 사전 알림으로 고객의 “기습적 지연” 경험을 줄여 이탈 방지 효과 기대.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Dataset (Kaggle) · 배송 지연 → 리뷰 경험 분석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2743200" cy="310896"/>
          </a:xfrm>
          <a:prstGeom prst="roundRect">
            <a:avLst>
              <a:gd name="adj" fmla="val 17647"/>
            </a:avLst>
          </a:prstGeom>
          <a:solidFill>
            <a:srgbClr val="6B4712"/>
          </a:solidFill>
          <a:ln/>
        </p:spPr>
        <p:txBody>
          <a:bodyPr wrap="square" lIns="0" tIns="1778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RECOMMENDATION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74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오퍼레이션팀은 월별 지연율 이상탐지 체계를 </a:t>
            </a:r>
            <a:r>
              <a:rPr lang="en-US" sz="2700" b="1" dirty="0" err="1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구축해</a:t>
            </a: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“이름 없는” 병목을 조기에 잡아야 한다</a:t>
            </a:r>
            <a:endParaRPr lang="en-US" sz="27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누가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194560" y="224028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오퍼레이션팀 · 데이터팀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94560" y="32461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월별(가능하면 주별) 지연율 대시보드 구축 + 평시 대비 일정 배수 초과 시 자동 알림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42519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언제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94560" y="425196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구축 착수, 익월부터 가동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521208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DCEB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1792" y="5321808"/>
            <a:ext cx="10945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F4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5596128"/>
            <a:ext cx="10945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Q1급 병목(지연율 18.56%, 두 달 지속)을 조기 탐지해 원인 파악·대응까지의 리드타임을 단축. 성수기 캘린더만으로는 못 잡는 리스크에 대한 안전망 확보.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Dataset (Kaggle) · 배송 지연 → 리뷰 경험 분석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108960" cy="310896"/>
          </a:xfrm>
          <a:prstGeom prst="roundRect">
            <a:avLst>
              <a:gd name="adj" fmla="val 17647"/>
            </a:avLst>
          </a:prstGeom>
          <a:solidFill>
            <a:srgbClr val="5C6670"/>
          </a:solidFill>
          <a:ln/>
        </p:spPr>
        <p:txBody>
          <a:bodyPr wrap="square" lIns="0" tIns="1778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한계 및 후속 분석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74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관측 데이터 기반 분석이라 인과 증명은 </a:t>
            </a:r>
            <a:r>
              <a:rPr lang="en-US" sz="2700" b="1" dirty="0" err="1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아니다</a:t>
            </a: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— 다음 단계는 원인 규명과 반복성 검증</a:t>
            </a:r>
            <a:endParaRPr lang="en-US" sz="27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2240280"/>
            <a:ext cx="3639312" cy="1600200"/>
          </a:xfrm>
          <a:prstGeom prst="roundRect">
            <a:avLst>
              <a:gd name="adj" fmla="val 4571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21792" y="235000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 ≠ 인과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" y="2624328"/>
            <a:ext cx="3310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회귀로 통제한 변수(카테고리·가격·할부)만으로는 판매자 CS 품질, 상품 파손 등 미관측 교란을 배제할 수 없다.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79392" y="2240280"/>
            <a:ext cx="3639312" cy="1600200"/>
          </a:xfrm>
          <a:prstGeom prst="roundRect">
            <a:avLst>
              <a:gd name="adj" fmla="val 4571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443984" y="235000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리뷰는 다요인 결과물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43984" y="2624328"/>
            <a:ext cx="3310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점수는 배송 외 상품 품질, 가격 대비 만족도 영향도 받는다. 지연이 유일한 원인이라 단정하지 않는다.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1584" y="2240280"/>
            <a:ext cx="3639312" cy="1600200"/>
          </a:xfrm>
          <a:prstGeom prst="roundRect">
            <a:avLst>
              <a:gd name="adj" fmla="val 4571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66176" y="235000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 커버리지 한정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66176" y="2624328"/>
            <a:ext cx="3310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10개 카테고리(63.0%)로 한정 — 표본이 적은 카테고리는 신뢰도 있는 비교가 어려워 제외했다.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3639312" cy="1600200"/>
          </a:xfrm>
          <a:prstGeom prst="roundRect">
            <a:avLst>
              <a:gd name="adj" fmla="val 4571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1792" y="417880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캘린더 표본 한계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4453128"/>
            <a:ext cx="3310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블랙프라이데이는 2017년 단 1회만 검증 가능 — ‘3주 고위험 구간’은 방향성 신호일 뿐 확정 패턴은 아니다.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79392" y="4069080"/>
            <a:ext cx="3639312" cy="1600200"/>
          </a:xfrm>
          <a:prstGeom prst="roundRect">
            <a:avLst>
              <a:gd name="adj" fmla="val 4571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443984" y="417880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2018 병목 원인 미확인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43984" y="4453128"/>
            <a:ext cx="3310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운송 구간에서 발생했다는 것까지는 확인했지만, 실제 외부 원인(업계 이슈 등)은 이 데이터만으로 알 수 없다.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01584" y="4069080"/>
            <a:ext cx="3639312" cy="1600200"/>
          </a:xfrm>
          <a:prstGeom prst="roundRect">
            <a:avLst>
              <a:gd name="adj" fmla="val 4571"/>
            </a:avLst>
          </a:prstGeom>
          <a:solidFill>
            <a:srgbClr val="DCEB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266176" y="417880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F4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후속 분석 제안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66176" y="4453128"/>
            <a:ext cx="3310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Q1 2018 병목의 실제 원인을 외부 자료로 조사 (2) 2018년 11월 이후 데이터로 블랙프라이데이 패턴 반복성 검증 (3) 크리스마스 등 배송 마감형 기념일은 비대칭 창으로 재분석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Dataset (Kaggle) · 배송 지연 → 리뷰 경험 분석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2743200" cy="310896"/>
          </a:xfrm>
          <a:prstGeom prst="roundRect">
            <a:avLst>
              <a:gd name="adj" fmla="val 17647"/>
            </a:avLst>
          </a:prstGeom>
          <a:solidFill>
            <a:srgbClr val="182430"/>
          </a:solidFill>
          <a:ln/>
        </p:spPr>
        <p:txBody>
          <a:bodyPr wrap="square" lIns="0" tIns="1778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A · 방법론 상세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사용한 통계 검정과 회귀 모형 전체 결과표</a:t>
            </a:r>
            <a:endParaRPr lang="en-US" sz="24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234038"/>
              </p:ext>
            </p:extLst>
          </p:nvPr>
        </p:nvGraphicFramePr>
        <p:xfrm>
          <a:off x="457200" y="1325880"/>
          <a:ext cx="11274552" cy="44805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검정/모형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리뷰 점수 분포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5점 59.2%, 4~5점 78.9%, 1~2점 12.8% (천장효과 확인)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n=95,824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핵심질문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(지연일수)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 = -0.176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n=95,824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핵심질문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Mann-Whitney U + Cliff's δ (지연여부)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.001, δ = -0.554 (large)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n=95,824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교란변수 통제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 (선형근사)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β(지연) = -1.715, p &lt; .001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n=60,41</a:t>
                      </a:r>
                      <a:r>
                        <a:rPr lang="en-US" altLang="ko-KR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교란변수 통제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순서형 로지스틱 회귀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β(지연) = -2.224, p &lt; .001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n=60,41</a:t>
                      </a:r>
                      <a:r>
                        <a:rPr lang="en-US" altLang="ko-KR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보조질문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단계별 Cliff's 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승인 0.087 · 발송준비 0.284 · 운송 0.735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n=94,443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보조질문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지연×카테고리 상호작용 (F검정)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= 5.67, p &lt; .001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n=60,41</a:t>
                      </a:r>
                      <a:r>
                        <a:rPr lang="en-US" altLang="ko-KR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보조질문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이벤트 구간 χ² (주문량 증폭)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p ≈ 1.2×10⁻²⁶³ (BF 2017)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이벤트별 상이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9436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코드와 실행 결과는 olist_delivery_review_analysis.ipynb(Restart &amp; Run All 검증 완료)에 있음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Dataset (Kaggle) · 배송 지연 → 리뷰 경험 분석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65176"/>
            <a:ext cx="3291840" cy="310896"/>
          </a:xfrm>
          <a:prstGeom prst="roundRect">
            <a:avLst>
              <a:gd name="adj" fmla="val 17647"/>
            </a:avLst>
          </a:prstGeom>
          <a:solidFill>
            <a:srgbClr val="182430"/>
          </a:solidFill>
          <a:ln/>
        </p:spPr>
        <p:txBody>
          <a:bodyPr wrap="square" lIns="0" tIns="1778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질문 대비</a:t>
            </a:r>
            <a:endParaRPr lang="en-US" sz="1100" dirty="0"/>
          </a:p>
        </p:txBody>
      </p:sp>
      <p:sp>
        <p:nvSpPr>
          <p:cNvPr id="3" name="Text 3"/>
          <p:cNvSpPr/>
          <p:nvPr/>
        </p:nvSpPr>
        <p:spPr>
          <a:xfrm>
            <a:off x="457200" y="786384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ko-KR" altLang="en-US" sz="2400" b="1" dirty="0">
                <a:solidFill>
                  <a:srgbClr val="18243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예상질문</a:t>
            </a:r>
            <a:endParaRPr lang="en-US" sz="24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Card 10"/>
          <p:cNvSpPr/>
          <p:nvPr/>
        </p:nvSpPr>
        <p:spPr>
          <a:xfrm>
            <a:off x="457200" y="1316736"/>
            <a:ext cx="11274552" cy="1426464"/>
          </a:xfrm>
          <a:prstGeom prst="roundRect">
            <a:avLst>
              <a:gd name="adj" fmla="val 4571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Text 11"/>
          <p:cNvSpPr/>
          <p:nvPr/>
        </p:nvSpPr>
        <p:spPr>
          <a:xfrm>
            <a:off x="621792" y="1458176"/>
            <a:ext cx="10945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Cliff's delta가 정확히 뭔가요?</a:t>
            </a:r>
            <a:endParaRPr lang="en-US" dirty="0"/>
          </a:p>
        </p:txBody>
      </p:sp>
      <p:sp>
        <p:nvSpPr>
          <p:cNvPr id="12" name="Text 12"/>
          <p:cNvSpPr/>
          <p:nvPr/>
        </p:nvSpPr>
        <p:spPr>
          <a:xfrm>
            <a:off x="621792" y="1941932"/>
            <a:ext cx="10945368" cy="5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2000"/>
              </a:lnSpc>
            </a:pP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 주문 하나와 정시 주문 하나를 무작위로 뽑았을 때, 정시 주문의 점수가 더 높을 확률에서 더 낮을 확률을 </a:t>
            </a:r>
            <a:r>
              <a:rPr lang="en-US" sz="1400" dirty="0" err="1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뺀</a:t>
            </a: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값이다</a:t>
            </a: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ct val="122000"/>
              </a:lnSpc>
            </a:pP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-1~1 범위이며 관례적으로 |δ|≥0.474면 "large"로 본다. </a:t>
            </a:r>
          </a:p>
          <a:p>
            <a:pPr>
              <a:lnSpc>
                <a:spcPct val="122000"/>
              </a:lnSpc>
            </a:pPr>
            <a:r>
              <a:rPr lang="en-US" sz="1400" dirty="0" err="1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</a:t>
            </a: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분석에서는 -0.55이므로, 무작위로 뽑은 쌍에서 정시 쪽이 이길 확률이 지연 쪽보다 훨씬 높다는 뜻이다.</a:t>
            </a:r>
            <a:endParaRPr lang="en-US" sz="1400" dirty="0"/>
          </a:p>
        </p:txBody>
      </p:sp>
      <p:sp>
        <p:nvSpPr>
          <p:cNvPr id="13" name="Card 13"/>
          <p:cNvSpPr/>
          <p:nvPr/>
        </p:nvSpPr>
        <p:spPr>
          <a:xfrm>
            <a:off x="457200" y="2852928"/>
            <a:ext cx="11274552" cy="1465326"/>
          </a:xfrm>
          <a:prstGeom prst="roundRect">
            <a:avLst>
              <a:gd name="adj" fmla="val 4571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4"/>
          <p:cNvSpPr/>
          <p:nvPr/>
        </p:nvSpPr>
        <p:spPr>
          <a:xfrm>
            <a:off x="621792" y="2989212"/>
            <a:ext cx="10945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상관계수(ρ=-0.18)는 약한데 왜 "효과가 크다"고 말하나요?</a:t>
            </a:r>
            <a:endParaRPr lang="en-US" dirty="0"/>
          </a:p>
        </p:txBody>
      </p:sp>
      <p:sp>
        <p:nvSpPr>
          <p:cNvPr id="15" name="Text 15"/>
          <p:cNvSpPr/>
          <p:nvPr/>
        </p:nvSpPr>
        <p:spPr>
          <a:xfrm>
            <a:off x="621792" y="3450984"/>
            <a:ext cx="10945368" cy="5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ρ는 "지연 일수"라는 연속값과 점수의 관계를 본 것이고, Cliff's δ는 "지연했다/안했다" 이진 여부와 점수의 관계를 본 것이다. </a:t>
            </a:r>
          </a:p>
          <a:p>
            <a:pPr marL="0" indent="0" algn="l">
              <a:lnSpc>
                <a:spcPct val="122000"/>
              </a:lnSpc>
              <a:buNone/>
            </a:pPr>
            <a:r>
              <a:rPr lang="en-US" sz="1400" dirty="0" err="1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</a:t>
            </a: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지표가 보는 대상이 다르다. </a:t>
            </a:r>
          </a:p>
          <a:p>
            <a:pPr marL="0" indent="0" algn="l">
              <a:lnSpc>
                <a:spcPct val="122000"/>
              </a:lnSpc>
              <a:buNone/>
            </a:pPr>
            <a:r>
              <a:rPr lang="en-US" sz="1400" dirty="0" err="1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</a:t>
            </a: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노트북의 핵심 발견은 정확히 이 차이에 있다 — 고객은 "며칠 늦었나"보다 "늦었다는 사실"에 반응한다(§4 참고).</a:t>
            </a:r>
            <a:endParaRPr lang="en-US" sz="1400" dirty="0"/>
          </a:p>
        </p:txBody>
      </p:sp>
      <p:sp>
        <p:nvSpPr>
          <p:cNvPr id="16" name="Card 16"/>
          <p:cNvSpPr/>
          <p:nvPr/>
        </p:nvSpPr>
        <p:spPr>
          <a:xfrm>
            <a:off x="457200" y="4448556"/>
            <a:ext cx="11274552" cy="2215480"/>
          </a:xfrm>
          <a:prstGeom prst="roundRect">
            <a:avLst>
              <a:gd name="adj" fmla="val 4571"/>
            </a:avLst>
          </a:prstGeom>
          <a:solidFill>
            <a:srgbClr val="F2F6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7"/>
          <p:cNvSpPr/>
          <p:nvPr/>
        </p:nvSpPr>
        <p:spPr>
          <a:xfrm>
            <a:off x="621792" y="4578858"/>
            <a:ext cx="10945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효과크기(Cliff's δ)와 위험지수는 어떻게 다른가요? (보조질문 2)</a:t>
            </a:r>
            <a:endParaRPr lang="en-US" dirty="0"/>
          </a:p>
        </p:txBody>
      </p:sp>
      <p:sp>
        <p:nvSpPr>
          <p:cNvPr id="18" name="Text 18"/>
          <p:cNvSpPr/>
          <p:nvPr/>
        </p:nvSpPr>
        <p:spPr>
          <a:xfrm>
            <a:off x="621792" y="5105756"/>
            <a:ext cx="10945368" cy="12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Cliff's δ는 지연이 벌어졌을 때 점수가 얼마나 크게 깎이는지, </a:t>
            </a:r>
          </a:p>
          <a:p>
            <a:pPr marL="0" indent="0" algn="l">
              <a:lnSpc>
                <a:spcPct val="122000"/>
              </a:lnSpc>
              <a:buNone/>
            </a:pPr>
            <a:r>
              <a:rPr lang="en-US" sz="1400" dirty="0" err="1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</a:t>
            </a: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</a:t>
            </a:r>
            <a:r>
              <a:rPr lang="en-US" sz="1400" dirty="0" err="1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피해의</a:t>
            </a: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강도"만</a:t>
            </a: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본다</a:t>
            </a: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400" dirty="0" err="1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지연이</a:t>
            </a: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</a:t>
            </a: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얼마나</a:t>
            </a: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</a:t>
            </a: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일어나는지는</a:t>
            </a: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반영하지</a:t>
            </a: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않는다</a:t>
            </a: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indent="0" algn="l">
              <a:lnSpc>
                <a:spcPct val="122000"/>
              </a:lnSpc>
              <a:buNone/>
            </a:pPr>
            <a:r>
              <a:rPr lang="en-US" sz="1400" dirty="0" err="1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위험지수</a:t>
            </a: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(지연율×점수 하락폭)는 여기에 발생 빈도를 곱해 "카테고리 평균 기대 손실"을 계산한 값이다. </a:t>
            </a:r>
          </a:p>
          <a:p>
            <a:pPr marL="0" indent="0" algn="l">
              <a:lnSpc>
                <a:spcPct val="122000"/>
              </a:lnSpc>
              <a:buNone/>
            </a:pPr>
            <a:r>
              <a:rPr lang="en-US" sz="1400" dirty="0" err="1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toys는</a:t>
            </a: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δ가 가장 크지만(-0.627) 지연율이 낮아(7.3%) 위험지수 순위는 내려가고, </a:t>
            </a:r>
          </a:p>
          <a:p>
            <a:pPr marL="0" indent="0" algn="l">
              <a:lnSpc>
                <a:spcPct val="122000"/>
              </a:lnSpc>
              <a:buNone/>
            </a:pPr>
            <a:r>
              <a:rPr lang="en-US" sz="1400" dirty="0" err="1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watches_gifts는</a:t>
            </a: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δ가 더 작아도 지연이 잦아 위험지수가 더 높다. </a:t>
            </a:r>
          </a:p>
          <a:p>
            <a:pPr marL="0" indent="0" algn="l">
              <a:lnSpc>
                <a:spcPct val="122000"/>
              </a:lnSpc>
              <a:buNone/>
            </a:pPr>
            <a:r>
              <a:rPr lang="en-US" sz="1400" dirty="0" err="1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비유하면</a:t>
            </a:r>
            <a:r>
              <a:rPr lang="en-US" sz="1400" dirty="0">
                <a:solidFill>
                  <a:srgbClr val="3D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δ는 "사고 한 번의 피해 규모", 위험지수는 "발생확률×피해규모=평균 기대 피해"다.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ro Line 1"/>
          <p:cNvSpPr/>
          <p:nvPr/>
        </p:nvSpPr>
        <p:spPr>
          <a:xfrm>
            <a:off x="2032000" y="2429000"/>
            <a:ext cx="8128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질의응답</a:t>
            </a:r>
            <a:endParaRPr lang="en-US" sz="60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2401</Words>
  <Application>Microsoft Macintosh PowerPoint</Application>
  <PresentationFormat>와이드스크린</PresentationFormat>
  <Paragraphs>293</Paragraphs>
  <Slides>16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NanumGothic</vt:lpstr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정유빈</cp:lastModifiedBy>
  <cp:revision>4</cp:revision>
  <dcterms:created xsi:type="dcterms:W3CDTF">2026-08-24T06:57:49Z</dcterms:created>
  <dcterms:modified xsi:type="dcterms:W3CDTF">2026-08-25T02:55:42Z</dcterms:modified>
</cp:coreProperties>
</file>